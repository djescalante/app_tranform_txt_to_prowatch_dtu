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iniciativa como un desarrollo en proceso: ya hay una versión funcional, pero estamos en etapa de piloto y mejora. La idea central: hoy el retiro de un empleado pasa por muchas manos antes de bloquearse; la herramienta lo reduce a un solo paso controlado.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mensaje de fondo: no se trata solo de ahorrar tiempo, sino de reducir la ventana en la que una persona retirada todavía puede entrar a las instalaciones.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paso a paso. Resaltar que entre el portal del banco y DTU la misma información se mueve cuatro veces a mano: por correo, al acumulado, por Teams y en la reexportación. Y al final todavía hay una revisión uno 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1: el tiempo y los errores que mete la cadena de traspasos. Problema 2: la validación manual al final, con el riesgo doble de bloquear a alguien que no se debe bloquear (VIP) o de dejar pasar a alguien que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toma la información directamente del padrón que ya existe en el servidor de integración, en lugar de esperar el reporte semanal. El operador hace todo en un solo lugar y obtiene el archivo para DTU listo, sin pasar por el acumulado.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general antes de entrar al detalle de cada fase. Las cinco primeras están construidas; la última es lo que sigue y es la razón por la que la presentamos como desarrollo en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fue el punto de partida. El padrón completo es muy pesado para trabajarlo a mano; el script deja solo la ventana de 5 días que interesa y lo hace solo, cada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más importante de esta fase es la exactitud: DTU espera un formato muy preciso. Comprobamos que el archivo que genera la herramienta es idéntico al que se cargaba antes, así que DTU no nota ningún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fase sirvió para probar la experiencia del operador. Funcionaba en un solo equipo y sin control de usuarios, por eso el siguiente paso fue llevarla a un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ataca de frente el segundo problema. La revisión de la lista VIP deja de depender de la memoria o de una revisión uno a uno: la herramienta la aplica sola y deja constancia de cuántas cédulas omitió.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esta fase la herramienta ya se puede instalar en un servidor de la operación. Al manejar datos personales de empleados, la seguridad no es opcional: todo viaja cifrado y cada usuario entra con su propia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de inicio. El operador ve si el padrón del día ya está cargado, la fecha sugerida (fecha del archivo menos un día) y lo último que se procesó. Los números de esta diapositiva son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pantalla principal y reemplaza los pasos 3 a 6 del proceso actual. Con la fecha del 28/09/2026, Terminated y Bancolombia, la herramienta encontró 48 registros: 47 se exportan y 1 se omite porque está en la Lista VIP. Antes de exportar se puede ver una vista previa.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historial reemplaza el rastro que hoy queda en correos y en Teams. La Lista VIP vive dentro de la herramienta: el administrador la mantiene y el operador ya no tiene que cruzarla a mano. Las cédulas y cifras de esta diapositiva son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la mejora. La fila de tiempo queda pendiente: la idea es medirla durante el piloto, comparando cuánto tarda hoy un corte completo contra cuánto tarda con 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la razón de presentarlo como desarrollo en proceso. Lo construido ya funciona, pero falta probarlo en la operación real y hay mejoras propuestas, como verificar automáticamente en ProWatch que el bloqueo se aplicó, que cerrarían por completo el segundo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peticiones concretas. Ajustar las tres según lo que realmente se necesite en la operación: duración del piloto, servidor y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7026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42380"/>
            <a:ext cx="10566400" cy="430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7026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42380"/>
            <a:ext cx="10566400" cy="430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3803"/>
            <a:ext cx="65928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INICIATIVA · CONTROL DE ACCESO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60323"/>
            <a:ext cx="6592824" cy="141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50337"/>
            <a:ext cx="6592824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reporte semanal por correo al bloqueo verificado en ProWatch, en un solo paso.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70677"/>
            <a:ext cx="1842492" cy="340320"/>
          </a:xfrm>
          <a:prstGeom prst="roundRect">
            <a:avLst>
              <a:gd name="adj" fmla="val 50000"/>
            </a:avLst>
          </a:prstGeom>
          <a:solidFill>
            <a:srgbClr val="F59E5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Desarrollo en proceso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26375" y="2196108"/>
            <a:ext cx="3549650" cy="2262518"/>
          </a:xfrm>
          <a:prstGeom prst="roundRect">
            <a:avLst>
              <a:gd name="adj" fmla="val 5473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81434" y="2451166"/>
            <a:ext cx="31307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Insumo para ProWatch DTU</a:t>
            </a:r>
            <a:endParaRPr lang="en-US" sz="1200" dirty="0"/>
          </a:p>
        </p:txBody>
      </p:sp>
      <p:pic>
        <p:nvPicPr>
          <p:cNvPr id="8" name="Image 0" descr="line">    </p:cNvPr>
          <p:cNvPicPr>
            <a:picLocks noChangeAspect="1"/>
          </p:cNvPicPr>
          <p:nvPr/>
        </p:nvPicPr>
        <p:blipFill>
          <a:blip r:embed="rId1"/>
          <a:srcRect l="0" r="0" t="-32" b="-32"/>
          <a:stretch/>
        </p:blipFill>
        <p:spPr>
          <a:xfrm>
            <a:off x="8081434" y="2766087"/>
            <a:ext cx="3039533" cy="6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81434" y="2874037"/>
            <a:ext cx="3130719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DOCUMENTO  28/09/2026  T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DOCUMENTO  28/09/2026  T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DOCUMENTO  28/09/2026  T</a:t>
            </a:r>
            <a:endParaRPr lang="en-US" sz="1400" dirty="0"/>
          </a:p>
        </p:txBody>
      </p:sp>
      <p:pic>
        <p:nvPicPr>
          <p:cNvPr id="10" name="Image 1" descr="line">    </p:cNvPr>
          <p:cNvPicPr>
            <a:picLocks noChangeAspect="1"/>
          </p:cNvPicPr>
          <p:nvPr/>
        </p:nvPicPr>
        <p:blipFill>
          <a:blip r:embed="rId2"/>
          <a:srcRect l="0" r="0" t="-32" b="-32"/>
          <a:stretch/>
        </p:blipFill>
        <p:spPr>
          <a:xfrm>
            <a:off x="8081434" y="3882298"/>
            <a:ext cx="3039533" cy="6350"/>
          </a:xfrm>
          <a:prstGeom prst="rect">
            <a:avLst/>
          </a:prstGeom>
        </p:spPr>
      </p:pic>
      <p:pic>
        <p:nvPicPr>
          <p:cNvPr id="11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1434" y="3995275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0834" y="3990248"/>
            <a:ext cx="29237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 aplicada · listo para cargar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[Nombre del presentador] · G4S · Área de Control de Acceso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69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0730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D7EC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POR QUÉ IMPORTA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25423"/>
            <a:ext cx="9810750" cy="1602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empleado que se retira del Grupo Bancolombia debe perder su acceso físico a tiempo.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207404"/>
            <a:ext cx="9156700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7EC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 ese bloqueo depende de una cadena manual de portales, correos, archivos y mensajes por Teams. Mientras la cadena avanza, el acceso sigue activo.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7EC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7EC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proceso actual: seis pasos y tres personas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295"/>
            <a:ext cx="3414183" cy="1566664"/>
          </a:xfrm>
          <a:prstGeom prst="roundRect">
            <a:avLst>
              <a:gd name="adj" fmla="val 6282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233" y="174155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01233" y="1774561"/>
            <a:ext cx="19751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ANALISTA DEL BANCO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0233" y="2122554"/>
            <a:ext cx="30958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al portal web, aplica los filtros y exporta los retiros de la semana.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233" y="2686382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Corte semanal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908" y="1537295"/>
            <a:ext cx="3414183" cy="1566664"/>
          </a:xfrm>
          <a:prstGeom prst="roundRect">
            <a:avLst>
              <a:gd name="adj" fmla="val 6282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167" y="174155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4167" y="1774561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CORREO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3167" y="2122554"/>
            <a:ext cx="30958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Envía el archivo al equipo G4S de Control de Acceso.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3167" y="2686382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Traspaso manual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1842" y="1537295"/>
            <a:ext cx="3414183" cy="1566664"/>
          </a:xfrm>
          <a:prstGeom prst="roundRect">
            <a:avLst>
              <a:gd name="adj" fmla="val 6282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6100" y="174155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7100" y="1774561"/>
            <a:ext cx="987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LÍDER G4S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66100" y="2122554"/>
            <a:ext cx="30958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Descarga el archivo y copia la información en un acumulado.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6100" y="2686382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Traspaso manual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975" y="3262709"/>
            <a:ext cx="3414183" cy="1797778"/>
          </a:xfrm>
          <a:prstGeom prst="roundRect">
            <a:avLst>
              <a:gd name="adj" fmla="val 5475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233" y="346696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01233" y="3499976"/>
            <a:ext cx="548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TEAMS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0233" y="3847968"/>
            <a:ext cx="30958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líder avisa a los operadores que la información ya está cargada.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0233" y="4411796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Traspaso manual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8908" y="3262709"/>
            <a:ext cx="3414183" cy="1797778"/>
          </a:xfrm>
          <a:prstGeom prst="roundRect">
            <a:avLst>
              <a:gd name="adj" fmla="val 5475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3167" y="346696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74167" y="3499976"/>
            <a:ext cx="877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OPERADOR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3167" y="3847968"/>
            <a:ext cx="30958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Vuelve a exportar la información al formato que entiende DTU y la procesa.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3167" y="4411796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Traspaso manual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61842" y="3262709"/>
            <a:ext cx="3414183" cy="1797778"/>
          </a:xfrm>
          <a:prstGeom prst="roundRect">
            <a:avLst>
              <a:gd name="adj" fmla="val 5475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6100" y="346696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0369A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47100" y="3499976"/>
            <a:ext cx="877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OPERADOR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66100" y="3847968"/>
            <a:ext cx="3095837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uno a uno que cada usuario quedó bloqueado y que no esté en la lista VIP.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66100" y="4642909"/>
            <a:ext cx="309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Revisión manual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problemas de fondo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295"/>
            <a:ext cx="5124450" cy="3215084"/>
          </a:xfrm>
          <a:prstGeom prst="roundRect">
            <a:avLst>
              <a:gd name="adj" fmla="val 3061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843154"/>
            <a:ext cx="46481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21833" y="2244461"/>
            <a:ext cx="4648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cadena manual de traspasos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1833" y="2701661"/>
            <a:ext cx="4648115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información pasa por tres personas y cuatro traspasos (correo, acumulado, aviso por Teams y reexportación) antes de llegar a DTU.</a:t>
            </a:r>
            <a:endParaRPr lang="en-US" sz="1400" dirty="0"/>
          </a:p>
        </p:txBody>
      </p:sp>
      <p:pic>
        <p:nvPicPr>
          <p:cNvPr id="7" name="Image 0" descr="Clock">    </p:cNvPr>
          <p:cNvPicPr>
            <a:picLocks noChangeAspect="1"/>
          </p:cNvPicPr>
          <p:nvPr/>
        </p:nvPicPr>
        <p:blipFill>
          <a:blip r:embed="rId1"/>
          <a:srcRect l="-821" r="-821" t="0" b="0"/>
          <a:stretch/>
        </p:blipFill>
        <p:spPr>
          <a:xfrm>
            <a:off x="1121833" y="3600782"/>
            <a:ext cx="167812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1245" y="3600782"/>
            <a:ext cx="4370621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corte semanal, un retiro puede esperar días antes de bloquearse.</a:t>
            </a:r>
            <a:endParaRPr lang="en-US" sz="1300" dirty="0"/>
          </a:p>
        </p:txBody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21833" y="4215408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6633" y="4215408"/>
            <a:ext cx="451061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copia y reexportación es una oportunidad de error.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51575" y="1537295"/>
            <a:ext cx="5124450" cy="3215084"/>
          </a:xfrm>
          <a:prstGeom prst="roundRect">
            <a:avLst>
              <a:gd name="adj" fmla="val 3061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57434" y="1843154"/>
            <a:ext cx="46481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57434" y="2244461"/>
            <a:ext cx="4648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validación uno a uno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57434" y="2701661"/>
            <a:ext cx="4648115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Después de procesar, el operador revisa usuario por usuario que quedó bloqueado y que no pertenece a la lista VIP del banco.</a:t>
            </a:r>
            <a:endParaRPr lang="en-US" sz="1400" dirty="0"/>
          </a:p>
        </p:txBody>
      </p:sp>
      <p:pic>
        <p:nvPicPr>
          <p:cNvPr id="15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57434" y="3600782"/>
            <a:ext cx="203200" cy="203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62234" y="3600782"/>
            <a:ext cx="399073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 tiempo del operador en cada corte.</a:t>
            </a:r>
            <a:endParaRPr lang="en-US" sz="1300" dirty="0"/>
          </a:p>
        </p:txBody>
      </p:sp>
      <p:pic>
        <p:nvPicPr>
          <p:cNvPr id="17" name="Image 3" descr="Warning">    </p:cNvPr>
          <p:cNvPicPr>
            <a:picLocks noChangeAspect="1"/>
          </p:cNvPicPr>
          <p:nvPr/>
        </p:nvPicPr>
        <p:blipFill>
          <a:blip r:embed="rId4"/>
          <a:srcRect l="0" r="0" t="-50" b="-50"/>
          <a:stretch/>
        </p:blipFill>
        <p:spPr>
          <a:xfrm>
            <a:off x="6557434" y="3984295"/>
            <a:ext cx="196652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5685" y="3984295"/>
            <a:ext cx="4340916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Riesgo de bloquear a un VIP o de dejar activo a un retirado.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solución: un flujo directo desde la fuente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095"/>
            <a:ext cx="2254250" cy="2115145"/>
          </a:xfrm>
          <a:prstGeom prst="roundRect">
            <a:avLst>
              <a:gd name="adj" fmla="val 4653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233" y="1792356"/>
            <a:ext cx="1901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PASO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0233" y="2081876"/>
            <a:ext cx="1901105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Padrón de empleados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645702"/>
            <a:ext cx="1901105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Archivo que deja la integración con el Directorio Activo, actualizado a diario.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5000" y="2569437"/>
            <a:ext cx="304800" cy="152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84575" y="1588095"/>
            <a:ext cx="2254250" cy="2115145"/>
          </a:xfrm>
          <a:prstGeom prst="roundRect">
            <a:avLst>
              <a:gd name="adj" fmla="val 4653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88833" y="1792356"/>
            <a:ext cx="1901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PASO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88833" y="2081876"/>
            <a:ext cx="190110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 de los 5 días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88833" y="2401888"/>
            <a:ext cx="190110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Extrae cada día una base liviana con los eventos de los últimos 5 días.</a:t>
            </a:r>
            <a:endParaRPr lang="en-US" sz="12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569437"/>
            <a:ext cx="3048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3175" y="1588095"/>
            <a:ext cx="2254250" cy="2115145"/>
          </a:xfrm>
          <a:prstGeom prst="roundRect">
            <a:avLst>
              <a:gd name="adj" fmla="val 4653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57434" y="1792356"/>
            <a:ext cx="1901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PASO 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57434" y="2081876"/>
            <a:ext cx="1901105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web de Usuarios Retirados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57434" y="2645702"/>
            <a:ext cx="190110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operador elige fecha y filtros. La Lista VIP se aplica sola.</a:t>
            </a:r>
            <a:endParaRPr lang="en-US" sz="12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569437"/>
            <a:ext cx="304800" cy="1524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21775" y="1588095"/>
            <a:ext cx="2254250" cy="2115145"/>
          </a:xfrm>
          <a:prstGeom prst="roundRect">
            <a:avLst>
              <a:gd name="adj" fmla="val 4653"/>
            </a:avLst>
          </a:prstGeom>
          <a:solidFill>
            <a:srgbClr val="14263D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326034" y="1792356"/>
            <a:ext cx="1901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RESULTADO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326034" y="2081876"/>
            <a:ext cx="1901105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TXT listo para ProWatch DTU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26034" y="2645702"/>
            <a:ext cx="1901105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formato exacto que DTU ya procesa, con registro de quién lo generó.</a:t>
            </a:r>
            <a:endParaRPr lang="en-US" sz="1200" dirty="0"/>
          </a:p>
        </p:txBody>
      </p:sp>
      <p:pic>
        <p:nvPicPr>
          <p:cNvPr id="22" name="Image 3" descr="Lightning">    </p:cNvPr>
          <p:cNvPicPr>
            <a:picLocks noChangeAspect="1"/>
          </p:cNvPicPr>
          <p:nvPr/>
        </p:nvPicPr>
        <p:blipFill>
          <a:blip r:embed="rId4"/>
          <a:srcRect l="-333" r="-333" t="0" b="0"/>
          <a:stretch/>
        </p:blipFill>
        <p:spPr>
          <a:xfrm>
            <a:off x="812800" y="4133124"/>
            <a:ext cx="230121" cy="254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4521" y="4011216"/>
            <a:ext cx="307682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correo, acumulado ni aviso por Teams</a:t>
            </a:r>
            <a:endParaRPr lang="en-US" sz="1400" dirty="0"/>
          </a:p>
        </p:txBody>
      </p:sp>
      <p:pic>
        <p:nvPicPr>
          <p:cNvPr id="24" name="Image 4" descr="Lock">    </p:cNvPr>
          <p:cNvPicPr>
            <a:picLocks noChangeAspect="1"/>
          </p:cNvPicPr>
          <p:nvPr/>
        </p:nvPicPr>
        <p:blipFill>
          <a:blip r:embed="rId5"/>
          <a:srcRect l="0" r="0" t="-13" b="-13"/>
          <a:stretch/>
        </p:blipFill>
        <p:spPr>
          <a:xfrm>
            <a:off x="4436533" y="4133124"/>
            <a:ext cx="253934" cy="254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92067" y="4011216"/>
            <a:ext cx="305230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 protegida automáticamente</a:t>
            </a:r>
            <a:endParaRPr lang="en-US" sz="1400" dirty="0"/>
          </a:p>
        </p:txBody>
      </p:sp>
      <p:pic>
        <p:nvPicPr>
          <p:cNvPr id="26" name="Image 5" descr="Search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60267" y="4133124"/>
            <a:ext cx="254000" cy="254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5867" y="4135636"/>
            <a:ext cx="24216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 de cada proceso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llegamos hasta aquí: cinco fases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817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fase resolvió una parte del problema y sirvió de base para la siguiente.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023070"/>
            <a:ext cx="1634067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09441"/>
            <a:ext cx="16848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 de los 5 días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068241"/>
            <a:ext cx="16848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diaria tomada de la fuente.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9267" y="2023070"/>
            <a:ext cx="1634067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9267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9267" y="2509441"/>
            <a:ext cx="16848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 de filtrado y formato DTU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99267" y="3068241"/>
            <a:ext cx="16848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TXT de DTU, sin reexportar.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5733" y="2023070"/>
            <a:ext cx="1634067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5733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5733" y="2509441"/>
            <a:ext cx="16848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de escritorio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5733" y="2839641"/>
            <a:ext cx="16848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Prototipo con interfaz para el operador.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023070"/>
            <a:ext cx="1634067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509441"/>
            <a:ext cx="16848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web cliente-servidor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068241"/>
            <a:ext cx="16848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Usuarios, Lista VIP e historial.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8667" y="2023070"/>
            <a:ext cx="1634067" cy="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8667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8667" y="2509441"/>
            <a:ext cx="16848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Despliegue seguro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8667" y="2839641"/>
            <a:ext cx="16848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 con HTTPS, listo para servidor.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45134" y="2023070"/>
            <a:ext cx="1634067" cy="0"/>
          </a:xfrm>
          <a:prstGeom prst="line">
            <a:avLst/>
          </a:prstGeom>
          <a:noFill/>
          <a:ln w="38100">
            <a:solidFill>
              <a:srgbClr val="B4501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745134" y="2194520"/>
            <a:ext cx="16848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EN PROCESO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45134" y="2509441"/>
            <a:ext cx="16848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Piloto y automatización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45134" y="3068241"/>
            <a:ext cx="168486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en operación real y seguir mejorando.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1 DE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script de los 5 días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HACE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8561"/>
            <a:ext cx="651433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 el padrón completo de empleados que deja la integración con el Directorio Activo y genera, cada día, una base liviana solo con los eventos de los últimos 5 días.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14186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PROBLEMA ATACA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43138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 no hay que esperar el reporte semanal por correo: la información se toma de la fuente, todos los días.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200" y="1849041"/>
            <a:ext cx="3937000" cy="3051770"/>
          </a:xfrm>
          <a:prstGeom prst="roundRect">
            <a:avLst>
              <a:gd name="adj" fmla="val 3329"/>
            </a:avLst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0" y="2103041"/>
            <a:ext cx="3531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DETALLE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1544" y="2417961"/>
            <a:ext cx="3438906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Padrón de ~203.715 registros, 78 columnas y ~165 MB.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como tarea programada diaria en el servidor.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Conserva todas las columnas y escribe el archivo de forma segura, sin dejarlo a medias.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Deja log de cada ejecución y limpia lo de más de 15 días.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2 DE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 de filtrado y formato DTU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HACE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8561"/>
            <a:ext cx="651433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Filtra el padrón por estado, sociedad y fecha del evento, y genera el TXT exactamente en el formato que consume ProWatch DTU: documento, fecha y la marca 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14186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PROBLEMA ATACA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43138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Elimina el copiar y pegar al acumulado y la reexportación manual al formato de DTU.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200" y="1849041"/>
            <a:ext cx="3937000" cy="2556470"/>
          </a:xfrm>
          <a:prstGeom prst="roundRect">
            <a:avLst>
              <a:gd name="adj" fmla="val 3974"/>
            </a:avLst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0" y="2103041"/>
            <a:ext cx="3531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DETALLE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1544" y="2417961"/>
            <a:ext cx="343890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 bien los campos con comas internas y la codificación original del archivo, sin dañar tildes.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TXT generado es idéntico byte a byte al formato histórico (verificado con SHA256).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Además del TXT, genera XLSX y TSV para revisión.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3 DE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de escritorio (prototipo)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HACE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856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da al operador una pantalla con calendario, filtros para marcar, vista previa de los registros y un resumen antes de exportar.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87516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PROBLEMA ATACA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16468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script exigía conocimientos técnicos. Con la interfaz, cualquier operador puede generar el archivo y revisar antes de exportar.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200" y="1849041"/>
            <a:ext cx="3937000" cy="2556470"/>
          </a:xfrm>
          <a:prstGeom prst="roundRect">
            <a:avLst>
              <a:gd name="adj" fmla="val 3974"/>
            </a:avLst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0" y="2103041"/>
            <a:ext cx="3531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DETALLE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1544" y="2417961"/>
            <a:ext cx="343890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Portable: se copia la carpeta y se usa, sin instalar nada.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 Excel sin necesitar Excel instalado.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Avisa si cambia la estructura del archivo de entrada.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Validó el diseño; luego fue reemplazada por la app web.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4 DE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web cliente-servidor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HACE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856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Centraliza la herramienta en un servidor. Los operadores entran desde el navegador con su usuario, generan el archivo y lo descargan.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87516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PROBLEMA ATACA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16468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Lista VIP queda dentro de la herramienta: esas cédulas se alertan y nunca se exportan. Y cada proceso queda registrado.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200" y="1849041"/>
            <a:ext cx="3937000" cy="2556470"/>
          </a:xfrm>
          <a:prstGeom prst="roundRect">
            <a:avLst>
              <a:gd name="adj" fmla="val 3974"/>
            </a:avLst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0" y="2103041"/>
            <a:ext cx="3531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DETALLE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1544" y="2417961"/>
            <a:ext cx="343890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Roles: Administrador y Operador.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 gestionada por el administrador; el operador solo la consulta.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Historial: quién, cuándo, qué filtros, cuántos registros y VIP omitidos.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Descarga de TXT, XLSX y TSV desde el historial.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FASE 5 DE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Despliegue seguro en servidor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HACE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3856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 la app como un servicio de Windows que arranca solo con el servidor y atiende por HTTPS en el puerto 443.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875161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QUÉ PROBLEMA ATACA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164681"/>
            <a:ext cx="651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Deja la solución lista para producción: un solo paquete, sin internet ni herramientas de desarrollo en el servidor.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42200" y="1849041"/>
            <a:ext cx="3937000" cy="2556470"/>
          </a:xfrm>
          <a:prstGeom prst="roundRect">
            <a:avLst>
              <a:gd name="adj" fmla="val 3974"/>
            </a:avLst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7696200" y="2103041"/>
            <a:ext cx="3531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DETALLE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81544" y="2417961"/>
            <a:ext cx="343890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Conexión cifrada con TLS 1.3 y cabeceras de seguridad.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Contraseñas cifradas y sesiones con token.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instalador genera el certificado, abre el firewall y arranca el servicio.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reinicia solo si el servicio falla.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234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MOCKUP 1 · DASHBOARD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608560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estado del día, de un vistazo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6109" y="1191022"/>
            <a:ext cx="1449917" cy="317037"/>
          </a:xfrm>
          <a:prstGeom prst="roundRect">
            <a:avLst>
              <a:gd name="adj" fmla="val 50000"/>
            </a:avLst>
          </a:prstGeom>
          <a:solidFill>
            <a:srgbClr val="FCFDFE"/>
          </a:solidFill>
          <a:ln w="6350">
            <a:solidFill>
              <a:srgbClr val="C9D3D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de ejemplo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1717613"/>
            <a:ext cx="10560050" cy="3911600"/>
          </a:xfrm>
          <a:prstGeom prst="roundRect">
            <a:avLst>
              <a:gd name="adj" fmla="val 2516"/>
            </a:avLst>
          </a:prstGeom>
          <a:solidFill>
            <a:srgbClr val="090D16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033" y="1718667"/>
            <a:ext cx="10557934" cy="416520"/>
          </a:xfrm>
          <a:custGeom>
            <a:avLst/>
            <a:gdLst/>
            <a:ahLst/>
            <a:cxnLst/>
            <a:rect l="l" t="t" r="r" b="b"/>
            <a:pathLst>
              <a:path w="10557934" h="416520">
                <a:moveTo>
                  <a:pt x="0" y="97367"/>
                </a:moveTo>
                <a:arcTo hR="97367" wR="97367" stAng="10800000" swAng="5400000"/>
                <a:lnTo>
                  <a:pt x="10460567" y="0"/>
                </a:lnTo>
                <a:arcTo hR="97367" wR="97367" stAng="16200000" swAng="5400000"/>
                <a:lnTo>
                  <a:pt x="10557934" y="416520"/>
                </a:lnTo>
                <a:lnTo>
                  <a:pt x="0" y="416520"/>
                </a:lnTo>
                <a:close/>
              </a:path>
            </a:pathLst>
          </a:custGeom>
          <a:solidFill>
            <a:srgbClr val="1A2333"/>
          </a:solidFill>
          <a:ln/>
        </p:spPr>
      </p:sp>
      <p:sp>
        <p:nvSpPr>
          <p:cNvPr id="7" name="Shape 5"/>
          <p:cNvSpPr/>
          <p:nvPr/>
        </p:nvSpPr>
        <p:spPr>
          <a:xfrm>
            <a:off x="9440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1091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42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439333" y="1794867"/>
            <a:ext cx="2032000" cy="264120"/>
          </a:xfrm>
          <a:prstGeom prst="roundRect">
            <a:avLst>
              <a:gd name="adj" fmla="val 19234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https://servidor-dtu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7033" y="2135188"/>
            <a:ext cx="10557934" cy="4715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17033" y="2603566"/>
            <a:ext cx="10557934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433" y="2253258"/>
            <a:ext cx="175974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928" y="2224088"/>
            <a:ext cx="946150" cy="289520"/>
          </a:xfrm>
          <a:prstGeom prst="roundRect">
            <a:avLst>
              <a:gd name="adj" fmla="val 17546"/>
            </a:avLst>
          </a:prstGeom>
          <a:solidFill>
            <a:srgbClr val="0284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39878" y="2262188"/>
            <a:ext cx="1223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Nuevo proceso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13648" y="2262188"/>
            <a:ext cx="6889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41794" y="2262188"/>
            <a:ext cx="725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2608" y="2762318"/>
            <a:ext cx="2461683" cy="926637"/>
          </a:xfrm>
          <a:prstGeom prst="roundRect">
            <a:avLst>
              <a:gd name="adj" fmla="val 7881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6067" y="2915779"/>
            <a:ext cx="221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Padrón cargado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6067" y="3179899"/>
            <a:ext cx="2219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203.715 filas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67642" y="2762318"/>
            <a:ext cx="2461683" cy="926637"/>
          </a:xfrm>
          <a:prstGeom prst="roundRect">
            <a:avLst>
              <a:gd name="adj" fmla="val 7881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100" y="2915779"/>
            <a:ext cx="221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 sugerida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21100" y="3179899"/>
            <a:ext cx="2219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28/09/2026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62675" y="2762318"/>
            <a:ext cx="2461683" cy="926637"/>
          </a:xfrm>
          <a:prstGeom prst="roundRect">
            <a:avLst>
              <a:gd name="adj" fmla="val 7881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6133" y="2915779"/>
            <a:ext cx="221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Procesos hoy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16133" y="3179899"/>
            <a:ext cx="2219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757709" y="2762318"/>
            <a:ext cx="2461683" cy="926637"/>
          </a:xfrm>
          <a:prstGeom prst="roundRect">
            <a:avLst>
              <a:gd name="adj" fmla="val 7881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1167" y="2915779"/>
            <a:ext cx="221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Registros exportados hoy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1167" y="3179899"/>
            <a:ext cx="2219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72608" y="3847703"/>
            <a:ext cx="10246784" cy="1624873"/>
          </a:xfrm>
          <a:prstGeom prst="roundRect">
            <a:avLst>
              <a:gd name="adj" fmla="val 4494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6067" y="4001164"/>
            <a:ext cx="1023806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Últimos procesos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8767" y="4321175"/>
          <a:ext cx="9927167" cy="997942"/>
        </p:xfrm>
        <a:graphic>
          <a:graphicData uri="http://schemas.openxmlformats.org/drawingml/2006/table">
            <a:tbl>
              <a:tblPr/>
              <a:tblGrid>
                <a:gridCol w="2382520"/>
                <a:gridCol w="1786890"/>
                <a:gridCol w="1786890"/>
                <a:gridCol w="1389803"/>
                <a:gridCol w="1191260"/>
                <a:gridCol w="1389803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Fecha proceso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Fecha evento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Usuario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Archivos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06/10/2026 09:12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28/09/2026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operador1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TXT · XLSX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03/10/2026 08:55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25/09/2026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operador2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TXT · XLSX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MOCKUP 2 · NUEVO PROCESO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filtro al archivo DTU en una pantalla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17613"/>
            <a:ext cx="7105650" cy="3485423"/>
          </a:xfrm>
          <a:prstGeom prst="roundRect">
            <a:avLst>
              <a:gd name="adj" fmla="val 2824"/>
            </a:avLst>
          </a:prstGeom>
          <a:solidFill>
            <a:srgbClr val="090D16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033" y="1718667"/>
            <a:ext cx="7103534" cy="416520"/>
          </a:xfrm>
          <a:custGeom>
            <a:avLst/>
            <a:gdLst/>
            <a:ahLst/>
            <a:cxnLst/>
            <a:rect l="l" t="t" r="r" b="b"/>
            <a:pathLst>
              <a:path w="7103534" h="416520">
                <a:moveTo>
                  <a:pt x="0" y="97367"/>
                </a:moveTo>
                <a:arcTo hR="97367" wR="97367" stAng="10800000" swAng="5400000"/>
                <a:lnTo>
                  <a:pt x="7006167" y="0"/>
                </a:lnTo>
                <a:arcTo hR="97367" wR="97367" stAng="16200000" swAng="5400000"/>
                <a:lnTo>
                  <a:pt x="7103534" y="416520"/>
                </a:lnTo>
                <a:lnTo>
                  <a:pt x="0" y="416520"/>
                </a:lnTo>
                <a:close/>
              </a:path>
            </a:pathLst>
          </a:custGeom>
          <a:solidFill>
            <a:srgbClr val="1A2333"/>
          </a:solidFill>
          <a:ln/>
        </p:spPr>
      </p:sp>
      <p:sp>
        <p:nvSpPr>
          <p:cNvPr id="6" name="Shape 4"/>
          <p:cNvSpPr/>
          <p:nvPr/>
        </p:nvSpPr>
        <p:spPr>
          <a:xfrm>
            <a:off x="9440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1091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42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439333" y="1794867"/>
            <a:ext cx="2032000" cy="264120"/>
          </a:xfrm>
          <a:prstGeom prst="roundRect">
            <a:avLst>
              <a:gd name="adj" fmla="val 19234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https://servidor-dtu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4833" y="2312988"/>
            <a:ext cx="6950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 del evento de retiro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8008" y="2631083"/>
            <a:ext cx="1898650" cy="360230"/>
          </a:xfrm>
          <a:prstGeom prst="roundRect">
            <a:avLst>
              <a:gd name="adj" fmla="val 16746"/>
            </a:avLst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667" y="2695643"/>
            <a:ext cx="11887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28/09/2026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28900" y="2735002"/>
            <a:ext cx="165100" cy="152400"/>
          </a:xfrm>
          <a:custGeom>
            <a:avLst/>
            <a:gdLst/>
            <a:ahLst/>
            <a:cxnLst/>
            <a:rect l="l" t="t" r="r" b="b"/>
            <a:pathLst>
              <a:path w="165100" h="152400">
                <a:moveTo>
                  <a:pt x="25400" y="0"/>
                </a:moveTo>
                <a:lnTo>
                  <a:pt x="139700" y="0"/>
                </a:lnTo>
                <a:arcTo hR="25400" wR="25400" stAng="16200000" swAng="5400000"/>
                <a:lnTo>
                  <a:pt x="165100" y="127000"/>
                </a:lnTo>
                <a:arcTo hR="25400" wR="25400" stAng="0" swAng="5400000"/>
                <a:lnTo>
                  <a:pt x="25400" y="152400"/>
                </a:lnTo>
                <a:arcTo hR="25400" wR="25400" stAng="5400000" swAng="5400000"/>
                <a:lnTo>
                  <a:pt x="0" y="25400"/>
                </a:lnTo>
                <a:arcTo hR="25400" wR="25400" stAng="10800000" swAng="5400000"/>
                <a:close/>
                <a:moveTo>
                  <a:pt x="12700" y="38100"/>
                </a:moveTo>
                <a:lnTo>
                  <a:pt x="12700" y="127000"/>
                </a:lnTo>
                <a:arcTo hR="12700" wR="12700" stAng="10800000" swAng="-5400000"/>
                <a:lnTo>
                  <a:pt x="139700" y="139700"/>
                </a:lnTo>
                <a:arcTo hR="12700" wR="12700" stAng="5400000" swAng="-5400000"/>
                <a:lnTo>
                  <a:pt x="152400" y="3810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976033" y="2653705"/>
            <a:ext cx="1141876" cy="314920"/>
          </a:xfrm>
          <a:prstGeom prst="roundRect">
            <a:avLst>
              <a:gd name="adj" fmla="val 1613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Usar sugerida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94109" y="2653705"/>
            <a:ext cx="471620" cy="314920"/>
          </a:xfrm>
          <a:prstGeom prst="roundRect">
            <a:avLst>
              <a:gd name="adj" fmla="val 16131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4833" y="3096090"/>
            <a:ext cx="6950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Estados de empleado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8008" y="3414185"/>
            <a:ext cx="1189434" cy="317037"/>
          </a:xfrm>
          <a:prstGeom prst="roundRect">
            <a:avLst>
              <a:gd name="adj" fmla="val 19028"/>
            </a:avLst>
          </a:prstGeom>
          <a:solidFill>
            <a:srgbClr val="0C2A40"/>
          </a:solidFill>
          <a:ln w="6350">
            <a:solidFill>
              <a:srgbClr val="0284C7"/>
            </a:solidFill>
            <a:prstDash val="solid"/>
          </a:ln>
        </p:spPr>
      </p:sp>
      <p:pic>
        <p:nvPicPr>
          <p:cNvPr id="18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667" y="3496469"/>
            <a:ext cx="152400" cy="152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03867" y="3466046"/>
            <a:ext cx="880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Terminated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69993" y="3414185"/>
            <a:ext cx="2146168" cy="317037"/>
          </a:xfrm>
          <a:prstGeom prst="roundRect">
            <a:avLst>
              <a:gd name="adj" fmla="val 19028"/>
            </a:avLst>
          </a:prstGeom>
          <a:noFill/>
          <a:ln w="6350">
            <a:solidFill>
              <a:srgbClr val="33415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terminación de contrato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98711" y="3414185"/>
            <a:ext cx="1297120" cy="317037"/>
          </a:xfrm>
          <a:prstGeom prst="roundRect">
            <a:avLst>
              <a:gd name="adj" fmla="val 19028"/>
            </a:avLst>
          </a:prstGeom>
          <a:noFill/>
          <a:ln w="6350">
            <a:solidFill>
              <a:srgbClr val="334155"/>
            </a:solidFill>
            <a:prstDash val="solid"/>
          </a:ln>
        </p:spPr>
        <p:txBody>
          <a:bodyPr wrap="none" lIns="0" tIns="0" rIns="1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ReportNo-Show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4833" y="3835995"/>
            <a:ext cx="6950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Sociedades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8008" y="4154091"/>
            <a:ext cx="1474126" cy="317037"/>
          </a:xfrm>
          <a:prstGeom prst="roundRect">
            <a:avLst>
              <a:gd name="adj" fmla="val 19028"/>
            </a:avLst>
          </a:prstGeom>
          <a:solidFill>
            <a:srgbClr val="0C2A40"/>
          </a:solidFill>
          <a:ln w="6350">
            <a:solidFill>
              <a:srgbClr val="0284C7"/>
            </a:solidFill>
            <a:prstDash val="solid"/>
          </a:ln>
        </p:spPr>
      </p:sp>
      <p:pic>
        <p:nvPicPr>
          <p:cNvPr id="24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0667" y="4236380"/>
            <a:ext cx="152400" cy="152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03867" y="4205951"/>
            <a:ext cx="11650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BANCOLOMBIA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554684" y="4154091"/>
            <a:ext cx="896342" cy="317037"/>
          </a:xfrm>
          <a:prstGeom prst="roundRect">
            <a:avLst>
              <a:gd name="adj" fmla="val 19028"/>
            </a:avLst>
          </a:prstGeom>
          <a:noFill/>
          <a:ln w="6350">
            <a:solidFill>
              <a:srgbClr val="33415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NEQUI SA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533577" y="4154091"/>
            <a:ext cx="1945746" cy="317037"/>
          </a:xfrm>
          <a:prstGeom prst="roundRect">
            <a:avLst>
              <a:gd name="adj" fmla="val 19028"/>
            </a:avLst>
          </a:prstGeom>
          <a:noFill/>
          <a:ln w="6350">
            <a:solidFill>
              <a:srgbClr val="33415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VALORES BANCOLOMBIA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561873" y="4154091"/>
            <a:ext cx="388210" cy="317037"/>
          </a:xfrm>
          <a:prstGeom prst="roundRect">
            <a:avLst>
              <a:gd name="adj" fmla="val 19028"/>
            </a:avLst>
          </a:prstGeom>
          <a:noFill/>
          <a:ln w="6350">
            <a:solidFill>
              <a:srgbClr val="33415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</a:t>
            </a:r>
            <a:endParaRPr lang="en-US" sz="1200" dirty="0"/>
          </a:p>
        </p:txBody>
      </p:sp>
      <p:pic>
        <p:nvPicPr>
          <p:cNvPr id="29" name="Image 2" descr="line">    </p:cNvPr>
          <p:cNvPicPr>
            <a:picLocks noChangeAspect="1"/>
          </p:cNvPicPr>
          <p:nvPr/>
        </p:nvPicPr>
        <p:blipFill>
          <a:blip r:embed="rId3"/>
          <a:srcRect l="0" r="0" t="-16" b="-16"/>
          <a:stretch/>
        </p:blipFill>
        <p:spPr>
          <a:xfrm>
            <a:off x="994833" y="4575907"/>
            <a:ext cx="6747934" cy="635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98008" y="4695496"/>
            <a:ext cx="1335881" cy="317037"/>
          </a:xfrm>
          <a:prstGeom prst="roundRect">
            <a:avLst>
              <a:gd name="adj" fmla="val 19028"/>
            </a:avLst>
          </a:prstGeom>
          <a:solidFill>
            <a:srgbClr val="3A2A10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31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0667" y="4777780"/>
            <a:ext cx="152400" cy="1524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03867" y="4747357"/>
            <a:ext cx="1026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VIP omitida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2438665" y="4747357"/>
            <a:ext cx="15079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 registros listos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106782" y="4683857"/>
            <a:ext cx="1635985" cy="340320"/>
          </a:xfrm>
          <a:prstGeom prst="roundRect">
            <a:avLst>
              <a:gd name="adj" fmla="val 18659"/>
            </a:avLst>
          </a:prstGeom>
          <a:solidFill>
            <a:srgbClr val="0284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Procesar y exportar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242300" y="1714438"/>
            <a:ext cx="0" cy="1023541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407400" y="1739838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8407400" y="2019238"/>
            <a:ext cx="306095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Formato dd/mm/aaaa con calendario. Sugiere la fecha del padrón menos un día.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242300" y="2941179"/>
            <a:ext cx="0" cy="792427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407400" y="2966579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Filtros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8407400" y="3245979"/>
            <a:ext cx="3060954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Estados y sociedades para marcar. Por defecto: Terminated y Bancolombia.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242300" y="3936802"/>
            <a:ext cx="0" cy="792427"/>
          </a:xfrm>
          <a:prstGeom prst="line">
            <a:avLst/>
          </a:prstGeom>
          <a:noFill/>
          <a:ln w="25400">
            <a:solidFill>
              <a:srgbClr val="B4501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407400" y="3962202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8407400" y="4241602"/>
            <a:ext cx="3060954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aplica sola: la cédula se alerta y no sale en el archivo.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7896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MOCKUP 3 · HISTORIAL Y LISTA VIP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6745208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queda registrado y protegido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6109" y="1191022"/>
            <a:ext cx="1449917" cy="317037"/>
          </a:xfrm>
          <a:prstGeom prst="roundRect">
            <a:avLst>
              <a:gd name="adj" fmla="val 50000"/>
            </a:avLst>
          </a:prstGeom>
          <a:solidFill>
            <a:srgbClr val="FCFDFE"/>
          </a:solidFill>
          <a:ln w="6350">
            <a:solidFill>
              <a:srgbClr val="C9D3D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de ejemplo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1717613"/>
            <a:ext cx="10560050" cy="2712707"/>
          </a:xfrm>
          <a:prstGeom prst="roundRect">
            <a:avLst>
              <a:gd name="adj" fmla="val 3628"/>
            </a:avLst>
          </a:prstGeom>
          <a:solidFill>
            <a:srgbClr val="090D16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033" y="1718667"/>
            <a:ext cx="10557934" cy="416520"/>
          </a:xfrm>
          <a:custGeom>
            <a:avLst/>
            <a:gdLst/>
            <a:ahLst/>
            <a:cxnLst/>
            <a:rect l="l" t="t" r="r" b="b"/>
            <a:pathLst>
              <a:path w="10557934" h="416520">
                <a:moveTo>
                  <a:pt x="0" y="97367"/>
                </a:moveTo>
                <a:arcTo hR="97367" wR="97367" stAng="10800000" swAng="5400000"/>
                <a:lnTo>
                  <a:pt x="10460567" y="0"/>
                </a:lnTo>
                <a:arcTo hR="97367" wR="97367" stAng="16200000" swAng="5400000"/>
                <a:lnTo>
                  <a:pt x="10557934" y="416520"/>
                </a:lnTo>
                <a:lnTo>
                  <a:pt x="0" y="416520"/>
                </a:lnTo>
                <a:close/>
              </a:path>
            </a:pathLst>
          </a:custGeom>
          <a:solidFill>
            <a:srgbClr val="1A2333"/>
          </a:solidFill>
          <a:ln/>
        </p:spPr>
      </p:sp>
      <p:sp>
        <p:nvSpPr>
          <p:cNvPr id="7" name="Shape 5"/>
          <p:cNvSpPr/>
          <p:nvPr/>
        </p:nvSpPr>
        <p:spPr>
          <a:xfrm>
            <a:off x="9440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1091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4233" y="18824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439333" y="1794867"/>
            <a:ext cx="2032000" cy="264120"/>
          </a:xfrm>
          <a:prstGeom prst="roundRect">
            <a:avLst>
              <a:gd name="adj" fmla="val 19234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https://servidor-dtu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2608" y="2290763"/>
            <a:ext cx="6272147" cy="1982920"/>
          </a:xfrm>
          <a:prstGeom prst="roundRect">
            <a:avLst>
              <a:gd name="adj" fmla="val 368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6067" y="2444223"/>
            <a:ext cx="614418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 y descargas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8767" y="2789634"/>
          <a:ext cx="5952530" cy="1330590"/>
        </p:xfrm>
        <a:graphic>
          <a:graphicData uri="http://schemas.openxmlformats.org/drawingml/2006/table">
            <a:tbl>
              <a:tblPr/>
              <a:tblGrid>
                <a:gridCol w="1309557"/>
                <a:gridCol w="1309557"/>
                <a:gridCol w="952405"/>
                <a:gridCol w="595253"/>
                <a:gridCol w="1785759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Fecha evento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Usuario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Descargar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5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28/09/2026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operador1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TXT · XLSX · TSV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25/09/2026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operador2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TXT · XLSX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22/09/2026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operador1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TXT · XLSX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403505" y="2290763"/>
            <a:ext cx="3815887" cy="1982920"/>
          </a:xfrm>
          <a:prstGeom prst="roundRect">
            <a:avLst>
              <a:gd name="adj" fmla="val 3683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6964" y="2473393"/>
            <a:ext cx="82391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26411" y="2444223"/>
            <a:ext cx="839523" cy="289520"/>
          </a:xfrm>
          <a:prstGeom prst="roundRect">
            <a:avLst>
              <a:gd name="adj" fmla="val 17546"/>
            </a:avLst>
          </a:prstGeom>
          <a:solidFill>
            <a:srgbClr val="0284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Agregar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56964" y="2838518"/>
            <a:ext cx="350897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56964" y="2915779"/>
            <a:ext cx="987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•••• 4521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78375" y="2915779"/>
            <a:ext cx="7875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Protegida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56964" y="3154499"/>
            <a:ext cx="36142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Ejemplo VIP 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56964" y="3472594"/>
            <a:ext cx="350897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56964" y="3549848"/>
            <a:ext cx="987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•••• 0937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78375" y="3549848"/>
            <a:ext cx="7875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Protegida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56964" y="3788569"/>
            <a:ext cx="36142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Ejemplo VIP 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4636691"/>
            <a:ext cx="665482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Historial:</a:t>
            </a: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quién procesó, qué fecha y cuántos registros. Los archivos se vuelven a descargar cuando se necesiten.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578593" y="4636691"/>
            <a:ext cx="3914626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VIP:</a:t>
            </a: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solo el administrador la edita.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cambia con la herramienta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4047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534120"/>
            <a:ext cx="0" cy="306500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635720"/>
          <a:ext cx="10299700" cy="2874500"/>
        </p:xfrm>
        <a:graphic>
          <a:graphicData uri="http://schemas.openxmlformats.org/drawingml/2006/table">
            <a:tbl>
              <a:tblPr/>
              <a:tblGrid>
                <a:gridCol w="2471928"/>
                <a:gridCol w="3913886"/>
                <a:gridCol w="391388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Aspecto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9E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 la herramienta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Origen de la información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Reporte semanal exportado de un portal y enviado por correo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Padrón tomado de la fuente, todos los días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Personas en la cadena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Analista del banco, líder G4S y operador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 operador G4S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Traspasos manuales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Correo, acumulado, aviso por Teams y reexportación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Ninguno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Formato DTU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rearma a mano en cada corte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genera solo, idéntico al histórico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Lista VIP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Revisión uno a uno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aplica sola: alerta y omite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Trazabilidad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Correos y mensajes de Teams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Historial con usuario, fecha, filtros y archivos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Tiempo por corte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min]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E4C5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min]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estamos y qué sigue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37295"/>
            <a:ext cx="3380317" cy="2346523"/>
          </a:xfrm>
          <a:prstGeom prst="roundRect">
            <a:avLst>
              <a:gd name="adj" fmla="val 4195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5633" y="1802482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033" y="1766962"/>
            <a:ext cx="60912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0977" y="2168265"/>
            <a:ext cx="291566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 de los 5 días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Motor de filtrado y formato DTU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web con Lista VIP e historial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Paquete de instalación seguro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5842" y="1537295"/>
            <a:ext cx="3380317" cy="2346523"/>
          </a:xfrm>
          <a:prstGeom prst="roundRect">
            <a:avLst>
              <a:gd name="adj" fmla="val 4195"/>
            </a:avLst>
          </a:prstGeom>
          <a:solidFill>
            <a:srgbClr val="FCFDFE"/>
          </a:solidFill>
          <a:ln w="6350">
            <a:solidFill>
              <a:srgbClr val="DDE3EA"/>
            </a:solidFill>
            <a:prstDash val="solid"/>
          </a:ln>
        </p:spPr>
      </p:sp>
      <p:pic>
        <p:nvPicPr>
          <p:cNvPr id="8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5500" y="1802482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14900" y="1766962"/>
            <a:ext cx="139977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proceso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20844" y="2168265"/>
            <a:ext cx="2915666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Instalación en el servidor de la operación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Piloto en paralelo con el proceso actual durante [__ semanas]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Ajustes con lo que digan los operadores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95709" y="1537295"/>
            <a:ext cx="3380317" cy="2346523"/>
          </a:xfrm>
          <a:prstGeom prst="roundRect">
            <a:avLst>
              <a:gd name="adj" fmla="val 4195"/>
            </a:avLst>
          </a:prstGeom>
          <a:solidFill>
            <a:srgbClr val="FCFDFE"/>
          </a:solidFill>
          <a:ln w="6350">
            <a:solidFill>
              <a:srgbClr val="9AA8B8"/>
            </a:solidFill>
            <a:prstDash val="dash"/>
          </a:ln>
        </p:spPr>
      </p:sp>
      <p:pic>
        <p:nvPicPr>
          <p:cNvPr id="12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5367" y="1802482"/>
            <a:ext cx="203200" cy="203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4767" y="1766962"/>
            <a:ext cx="259746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 (propuesta)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310711" y="2168265"/>
            <a:ext cx="2915666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en ProWatch que cada usuario quedó bloqueado, sin revisión uno a uno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Aviso automático al equipo cuando el archivo esté listo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E4C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Indicadores desde el historial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3958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Usuarios Retirados DTU · Iniciativa en desarrollo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145507" y="6238280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5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38BD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PARA AVANZAR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necesitamos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12231"/>
            <a:ext cx="3380317" cy="1802937"/>
          </a:xfrm>
          <a:prstGeom prst="roundRect">
            <a:avLst>
              <a:gd name="adj" fmla="val 5459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267285"/>
            <a:ext cx="29563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9E5B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33" y="2760005"/>
            <a:ext cx="29563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 para un piloto en paralelo con el proceso actual durante [__ semanas].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42" y="2012231"/>
            <a:ext cx="3380317" cy="1802937"/>
          </a:xfrm>
          <a:prstGeom prst="roundRect">
            <a:avLst>
              <a:gd name="adj" fmla="val 5459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2267285"/>
            <a:ext cx="29563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9E5B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0900" y="2760005"/>
            <a:ext cx="29563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servidor Windows con acceso a la ruta del padrón de empleados.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09" y="2012231"/>
            <a:ext cx="3380317" cy="1802937"/>
          </a:xfrm>
          <a:prstGeom prst="roundRect">
            <a:avLst>
              <a:gd name="adj" fmla="val 5459"/>
            </a:avLst>
          </a:prstGeom>
          <a:solidFill>
            <a:srgbClr val="14263D"/>
          </a:solidFill>
          <a:ln w="635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2267285"/>
            <a:ext cx="29563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9E5B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50767" y="2760005"/>
            <a:ext cx="29563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quién administra la Lista VIP y los usuarios de la herramienta.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5521995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Gracias. ¿Preguntas?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[Nombre del presentador] · [correo] · G4S · Área de Control de Acceso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uarios Retirados DTU">
  <a:themeElements>
    <a:clrScheme name="Usuarios Retirados DTU">
      <a:dk1>
        <a:srgbClr val="0E1A2B"/>
      </a:dk1>
      <a:lt1>
        <a:srgbClr val="F4F6F9"/>
      </a:lt1>
      <a:dk2>
        <a:srgbClr val="48515F"/>
      </a:dk2>
      <a:lt2>
        <a:srgbClr val="DDE0E4"/>
      </a:lt2>
      <a:accent1>
        <a:srgbClr val="0369A1"/>
      </a:accent1>
      <a:accent2>
        <a:srgbClr val="B4501A"/>
      </a:accent2>
      <a:accent3>
        <a:srgbClr val="38BDF8"/>
      </a:accent3>
      <a:accent4>
        <a:srgbClr val="FBBF24"/>
      </a:accent4>
      <a:accent5>
        <a:srgbClr val="34D399"/>
      </a:accent5>
      <a:accent6>
        <a:srgbClr val="8FA3BA"/>
      </a:accent6>
      <a:hlink>
        <a:srgbClr val="0563C1"/>
      </a:hlink>
      <a:folHlink>
        <a:srgbClr val="954F72"/>
      </a:folHlink>
    </a:clrScheme>
    <a:fontScheme name="Usuarios Retirados DTU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Usuarios Retirados DTU</dc:title>
  <dc:subject/>
  <dc:creator/>
  <cp:lastModifiedBy/>
  <cp:revision>1</cp:revision>
  <dcterms:created xsi:type="dcterms:W3CDTF">2026-10-06T14:32:00Z</dcterms:created>
  <dcterms:modified xsi:type="dcterms:W3CDTF">2026-10-06T14:32:00Z</dcterms:modified>
</cp:coreProperties>
</file>